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nonymous Pro" panose="020B0604020202020204" charset="0"/>
      <p:regular r:id="rId10"/>
    </p:embeddedFont>
    <p:embeddedFont>
      <p:font typeface="Anonymous Pro Bold" panose="020B0604020202020204" charset="0"/>
      <p:regular r:id="rId11"/>
    </p:embeddedFont>
    <p:embeddedFont>
      <p:font typeface="Arian Bold" panose="020B0604020202020204" charset="-78"/>
      <p:regular r:id="rId12"/>
    </p:embeddedFont>
    <p:embeddedFont>
      <p:font typeface="TT Commons Pro" panose="020B0604020202020204" charset="0"/>
      <p:regular r:id="rId13"/>
    </p:embeddedFont>
    <p:embeddedFont>
      <p:font typeface="TT Commons Pro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81" y="580551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60181" y="8579422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24185" y="8732728"/>
            <a:ext cx="876444" cy="525572"/>
            <a:chOff x="0" y="0"/>
            <a:chExt cx="6349746" cy="3807714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6471043" y="8584184"/>
            <a:ext cx="788257" cy="822659"/>
          </a:xfrm>
          <a:custGeom>
            <a:avLst/>
            <a:gdLst/>
            <a:ahLst/>
            <a:cxnLst/>
            <a:rect l="l" t="t" r="r" b="b"/>
            <a:pathLst>
              <a:path w="788257" h="822659">
                <a:moveTo>
                  <a:pt x="0" y="0"/>
                </a:moveTo>
                <a:lnTo>
                  <a:pt x="788257" y="0"/>
                </a:lnTo>
                <a:lnTo>
                  <a:pt x="788257" y="822660"/>
                </a:lnTo>
                <a:lnTo>
                  <a:pt x="0" y="822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376339" y="5388152"/>
            <a:ext cx="3535323" cy="55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9"/>
              </a:lnSpc>
              <a:spcBef>
                <a:spcPct val="0"/>
              </a:spcBef>
            </a:pPr>
            <a:r>
              <a:rPr lang="en-US" sz="2935" b="1">
                <a:solidFill>
                  <a:srgbClr val="000000"/>
                </a:solidFill>
                <a:latin typeface="Arian Bold"/>
                <a:ea typeface="Arian Bold"/>
                <a:cs typeface="Arian Bold"/>
                <a:sym typeface="Arian Bold"/>
              </a:rPr>
              <a:t>SCAN.  FLAG.  FIX.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471043" y="580551"/>
            <a:ext cx="1253978" cy="1180340"/>
          </a:xfrm>
          <a:custGeom>
            <a:avLst/>
            <a:gdLst/>
            <a:ahLst/>
            <a:cxnLst/>
            <a:rect l="l" t="t" r="r" b="b"/>
            <a:pathLst>
              <a:path w="1253978" h="1180340">
                <a:moveTo>
                  <a:pt x="0" y="0"/>
                </a:moveTo>
                <a:lnTo>
                  <a:pt x="1253977" y="0"/>
                </a:lnTo>
                <a:lnTo>
                  <a:pt x="1253977" y="1180340"/>
                </a:lnTo>
                <a:lnTo>
                  <a:pt x="0" y="118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19" b="-311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724400" y="4008235"/>
            <a:ext cx="9465409" cy="1161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6"/>
              </a:lnSpc>
              <a:spcBef>
                <a:spcPct val="0"/>
              </a:spcBef>
            </a:pPr>
            <a:r>
              <a:rPr lang="en-US" sz="7140" b="1" dirty="0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81" y="580551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60181" y="8720478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28700" y="8934934"/>
            <a:ext cx="855686" cy="513124"/>
            <a:chOff x="0" y="0"/>
            <a:chExt cx="6349746" cy="3807714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567887"/>
            <a:ext cx="8549265" cy="106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3"/>
              </a:lnSpc>
            </a:pPr>
            <a:r>
              <a:rPr lang="en-US" sz="6167" b="1" spc="259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PROBLEMS FACED: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3495" y="2087785"/>
            <a:ext cx="14901010" cy="595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0"/>
              </a:lnSpc>
            </a:pPr>
            <a:endParaRPr/>
          </a:p>
          <a:p>
            <a:pPr marL="660183" lvl="1" indent="-330091" algn="l">
              <a:lnSpc>
                <a:spcPts val="4280"/>
              </a:lnSpc>
              <a:buFont typeface="Arial"/>
              <a:buChar char="•"/>
            </a:pPr>
            <a:r>
              <a:rPr lang="en-US" sz="3057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CONTRADICTIONS ACROSS DOCUMENTS:</a:t>
            </a:r>
            <a:r>
              <a:rPr lang="en-US" sz="305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</a:t>
            </a:r>
            <a:r>
              <a:rPr lang="en-US" sz="3057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E.G., HR POLICY SAYS 30 DAYS LEAVE, ANOTHER SAYS 24.</a:t>
            </a:r>
          </a:p>
          <a:p>
            <a:pPr algn="l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660183" lvl="1" indent="-330091" algn="l">
              <a:lnSpc>
                <a:spcPts val="4280"/>
              </a:lnSpc>
              <a:buFont typeface="Arial"/>
              <a:buChar char="•"/>
            </a:pPr>
            <a:r>
              <a:rPr lang="en-US" sz="3057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OVERLAPPING OR REDUNDANT CLAUSES:</a:t>
            </a:r>
            <a:r>
              <a:rPr lang="en-US" sz="305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</a:t>
            </a:r>
            <a:r>
              <a:rPr lang="en-US" sz="3057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MULTIPLE DOCUMENTS REPEATING SIMILAR RULES.</a:t>
            </a:r>
          </a:p>
          <a:p>
            <a:pPr algn="l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660183" lvl="1" indent="-330091" algn="l">
              <a:lnSpc>
                <a:spcPts val="4280"/>
              </a:lnSpc>
              <a:buFont typeface="Arial"/>
              <a:buChar char="•"/>
            </a:pPr>
            <a:r>
              <a:rPr lang="en-US" sz="3057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OUTDATED POLICIES:</a:t>
            </a:r>
            <a:r>
              <a:rPr lang="en-US" sz="3057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NO VISIBILITY INTO WHICH VERSION IS CURRENT.</a:t>
            </a:r>
          </a:p>
          <a:p>
            <a:pPr algn="l">
              <a:lnSpc>
                <a:spcPts val="4280"/>
              </a:lnSpc>
            </a:pPr>
            <a:endParaRPr lang="en-US" sz="3057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660183" lvl="1" indent="-330091" algn="l">
              <a:lnSpc>
                <a:spcPts val="4280"/>
              </a:lnSpc>
              <a:buFont typeface="Arial"/>
              <a:buChar char="•"/>
            </a:pPr>
            <a:r>
              <a:rPr lang="en-US" sz="3057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MANUAL REVIEW BOTTLENECKS:</a:t>
            </a:r>
            <a:r>
              <a:rPr lang="en-US" sz="3057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</a:t>
            </a:r>
            <a:r>
              <a:rPr lang="en-US" sz="3057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TEAMS WASTE HOURS CROSS-CHECKING DOCUMENTS.</a:t>
            </a:r>
          </a:p>
        </p:txBody>
      </p:sp>
      <p:sp>
        <p:nvSpPr>
          <p:cNvPr id="12" name="Freeform 12"/>
          <p:cNvSpPr/>
          <p:nvPr/>
        </p:nvSpPr>
        <p:spPr>
          <a:xfrm flipH="1">
            <a:off x="16838816" y="589864"/>
            <a:ext cx="840969" cy="877671"/>
          </a:xfrm>
          <a:custGeom>
            <a:avLst/>
            <a:gdLst/>
            <a:ahLst/>
            <a:cxnLst/>
            <a:rect l="l" t="t" r="r" b="b"/>
            <a:pathLst>
              <a:path w="840969" h="877671">
                <a:moveTo>
                  <a:pt x="840968" y="0"/>
                </a:moveTo>
                <a:lnTo>
                  <a:pt x="0" y="0"/>
                </a:lnTo>
                <a:lnTo>
                  <a:pt x="0" y="877672"/>
                </a:lnTo>
                <a:lnTo>
                  <a:pt x="840968" y="877672"/>
                </a:lnTo>
                <a:lnTo>
                  <a:pt x="8409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999094" y="8790617"/>
            <a:ext cx="520413" cy="801757"/>
          </a:xfrm>
          <a:custGeom>
            <a:avLst/>
            <a:gdLst/>
            <a:ahLst/>
            <a:cxnLst/>
            <a:rect l="l" t="t" r="r" b="b"/>
            <a:pathLst>
              <a:path w="520413" h="801757">
                <a:moveTo>
                  <a:pt x="0" y="0"/>
                </a:moveTo>
                <a:lnTo>
                  <a:pt x="520412" y="0"/>
                </a:lnTo>
                <a:lnTo>
                  <a:pt x="520412" y="801757"/>
                </a:lnTo>
                <a:lnTo>
                  <a:pt x="0" y="801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066050" y="8975819"/>
            <a:ext cx="3023830" cy="8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565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</a:t>
            </a:r>
          </a:p>
          <a:p>
            <a:pPr algn="ctr">
              <a:lnSpc>
                <a:spcPts val="3592"/>
              </a:lnSpc>
              <a:spcBef>
                <a:spcPct val="0"/>
              </a:spcBef>
            </a:pPr>
            <a:endParaRPr lang="en-US" sz="2565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4943" y="664982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1619422"/>
            <a:ext cx="17172401" cy="8443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64943" y="8837640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H="1" flipV="1">
            <a:off x="16518812" y="664982"/>
            <a:ext cx="0" cy="91258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19175" y="8997301"/>
            <a:ext cx="870484" cy="521998"/>
            <a:chOff x="0" y="0"/>
            <a:chExt cx="6349746" cy="3807714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560181" y="1964769"/>
            <a:ext cx="15953869" cy="739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3364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 OUR Smart Doc Checker Agent will:</a:t>
            </a:r>
          </a:p>
          <a:p>
            <a:pPr algn="l">
              <a:lnSpc>
                <a:spcPts val="4150"/>
              </a:lnSpc>
            </a:pPr>
            <a:endParaRPr lang="en-US" sz="3364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  <a:p>
            <a:pPr marL="640038" lvl="1" indent="-320019" algn="l">
              <a:lnSpc>
                <a:spcPts val="4150"/>
              </a:lnSpc>
              <a:buFont typeface="Arial"/>
              <a:buChar char="•"/>
            </a:pPr>
            <a:r>
              <a:rPr lang="en-US" sz="2964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AUTOMATED COMPLIANCE AUDIT</a:t>
            </a:r>
            <a:r>
              <a:rPr lang="en-US" sz="296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INGEST ALL POLICY FILES (RETENTION SCHEDULES, SOPS, REGULATIONS) INTO ONE PLATFORM.</a:t>
            </a:r>
          </a:p>
          <a:p>
            <a:pPr marL="640038" lvl="1" indent="-320019" algn="l">
              <a:lnSpc>
                <a:spcPts val="4150"/>
              </a:lnSpc>
              <a:buFont typeface="Arial"/>
              <a:buChar char="•"/>
            </a:pPr>
            <a:r>
              <a:rPr lang="en-US" sz="2964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AI-POWERED ANALYSIS</a:t>
            </a:r>
            <a:r>
              <a:rPr lang="en-US" sz="296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USES NLP TO ENSURE POLICIES MUTUALLY ALIGN, FLAGS ANY RULE THAT DOES NOT MATCH OTHERS OR EXTERNAL REGULATIONS. AI CAN TRACK LEGAL TEXT CHANGES. </a:t>
            </a:r>
          </a:p>
          <a:p>
            <a:pPr marL="640038" lvl="1" indent="-320019" algn="l">
              <a:lnSpc>
                <a:spcPts val="4150"/>
              </a:lnSpc>
              <a:buFont typeface="Arial"/>
              <a:buChar char="•"/>
            </a:pPr>
            <a:r>
              <a:rPr lang="en-US" sz="2964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OUTCOME</a:t>
            </a:r>
            <a:r>
              <a:rPr lang="en-US" sz="296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AUDITS BECOME FASTER AND </a:t>
            </a:r>
            <a:r>
              <a:rPr lang="en-US" sz="2964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LESS ERROR-PRONE</a:t>
            </a:r>
            <a:r>
              <a:rPr lang="en-US" sz="296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. COMPLIANCE TEAMS GET A SINGLE REPORT LISTING ALL INCONSISTENCIES AND THEIR SOURCES.</a:t>
            </a:r>
          </a:p>
          <a:p>
            <a:pPr algn="l">
              <a:lnSpc>
                <a:spcPts val="4150"/>
              </a:lnSpc>
            </a:pPr>
            <a:endParaRPr lang="en-US" sz="2964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640038" lvl="1" indent="-320019" algn="l">
              <a:lnSpc>
                <a:spcPts val="4150"/>
              </a:lnSpc>
              <a:buFont typeface="Arial"/>
              <a:buChar char="•"/>
            </a:pPr>
            <a:r>
              <a:rPr lang="en-US" sz="2964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VISUAL FLOW:</a:t>
            </a:r>
            <a:r>
              <a:rPr lang="en-US" sz="2964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RAW DOCUMENTS → AI ANALYSIS → “COMPLIANCE SCORECARD” OR LIST OF ISSUES WITH CHECKMARKS.</a:t>
            </a:r>
          </a:p>
          <a:p>
            <a:pPr algn="l">
              <a:lnSpc>
                <a:spcPts val="4150"/>
              </a:lnSpc>
            </a:pPr>
            <a:endParaRPr lang="en-US" sz="2964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  <a:p>
            <a:pPr algn="l">
              <a:lnSpc>
                <a:spcPts val="4150"/>
              </a:lnSpc>
            </a:pPr>
            <a:endParaRPr lang="en-US" sz="2964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59926" y="745721"/>
            <a:ext cx="609730" cy="877310"/>
          </a:xfrm>
          <a:custGeom>
            <a:avLst/>
            <a:gdLst/>
            <a:ahLst/>
            <a:cxnLst/>
            <a:rect l="l" t="t" r="r" b="b"/>
            <a:pathLst>
              <a:path w="609730" h="877310">
                <a:moveTo>
                  <a:pt x="0" y="0"/>
                </a:moveTo>
                <a:lnTo>
                  <a:pt x="609730" y="0"/>
                </a:lnTo>
                <a:lnTo>
                  <a:pt x="609730" y="877310"/>
                </a:lnTo>
                <a:lnTo>
                  <a:pt x="0" y="87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639369" y="8832878"/>
            <a:ext cx="850844" cy="850844"/>
          </a:xfrm>
          <a:custGeom>
            <a:avLst/>
            <a:gdLst/>
            <a:ahLst/>
            <a:cxnLst/>
            <a:rect l="l" t="t" r="r" b="b"/>
            <a:pathLst>
              <a:path w="850844" h="850844">
                <a:moveTo>
                  <a:pt x="0" y="0"/>
                </a:moveTo>
                <a:lnTo>
                  <a:pt x="850844" y="0"/>
                </a:lnTo>
                <a:lnTo>
                  <a:pt x="850844" y="850844"/>
                </a:lnTo>
                <a:lnTo>
                  <a:pt x="0" y="85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531632"/>
            <a:ext cx="8448586" cy="108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6"/>
              </a:lnSpc>
            </a:pPr>
            <a:r>
              <a:rPr lang="en-US" sz="6226" b="1" spc="26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OUR SOLUTION: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5846" y="9072358"/>
            <a:ext cx="3023830" cy="8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565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</a:t>
            </a:r>
          </a:p>
          <a:p>
            <a:pPr algn="ctr">
              <a:lnSpc>
                <a:spcPts val="3592"/>
              </a:lnSpc>
              <a:spcBef>
                <a:spcPct val="0"/>
              </a:spcBef>
            </a:pPr>
            <a:endParaRPr lang="en-US" sz="2565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4943" y="664982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8735537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05991" y="8997301"/>
            <a:ext cx="870484" cy="521998"/>
            <a:chOff x="0" y="0"/>
            <a:chExt cx="6349746" cy="3807714"/>
          </a:xfrm>
        </p:grpSpPr>
        <p:sp>
          <p:nvSpPr>
            <p:cNvPr id="7" name="Freeform 7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880483" y="847979"/>
            <a:ext cx="609730" cy="877310"/>
          </a:xfrm>
          <a:custGeom>
            <a:avLst/>
            <a:gdLst/>
            <a:ahLst/>
            <a:cxnLst/>
            <a:rect l="l" t="t" r="r" b="b"/>
            <a:pathLst>
              <a:path w="609730" h="877310">
                <a:moveTo>
                  <a:pt x="0" y="0"/>
                </a:moveTo>
                <a:lnTo>
                  <a:pt x="609730" y="0"/>
                </a:lnTo>
                <a:lnTo>
                  <a:pt x="609730" y="877310"/>
                </a:lnTo>
                <a:lnTo>
                  <a:pt x="0" y="87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639369" y="8832878"/>
            <a:ext cx="850844" cy="850844"/>
          </a:xfrm>
          <a:custGeom>
            <a:avLst/>
            <a:gdLst/>
            <a:ahLst/>
            <a:cxnLst/>
            <a:rect l="l" t="t" r="r" b="b"/>
            <a:pathLst>
              <a:path w="850844" h="850844">
                <a:moveTo>
                  <a:pt x="0" y="0"/>
                </a:moveTo>
                <a:lnTo>
                  <a:pt x="850844" y="0"/>
                </a:lnTo>
                <a:lnTo>
                  <a:pt x="850844" y="850844"/>
                </a:lnTo>
                <a:lnTo>
                  <a:pt x="0" y="85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489928" y="1028700"/>
            <a:ext cx="13558698" cy="7424655"/>
          </a:xfrm>
          <a:custGeom>
            <a:avLst/>
            <a:gdLst/>
            <a:ahLst/>
            <a:cxnLst/>
            <a:rect l="l" t="t" r="r" b="b"/>
            <a:pathLst>
              <a:path w="13558698" h="7424655">
                <a:moveTo>
                  <a:pt x="0" y="0"/>
                </a:moveTo>
                <a:lnTo>
                  <a:pt x="13558698" y="0"/>
                </a:lnTo>
                <a:lnTo>
                  <a:pt x="13558698" y="7424655"/>
                </a:lnTo>
                <a:lnTo>
                  <a:pt x="0" y="7424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475" b="-147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757362" y="9047060"/>
            <a:ext cx="3023830" cy="8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565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</a:t>
            </a:r>
          </a:p>
          <a:p>
            <a:pPr algn="ctr">
              <a:lnSpc>
                <a:spcPts val="3592"/>
              </a:lnSpc>
              <a:spcBef>
                <a:spcPct val="0"/>
              </a:spcBef>
            </a:pPr>
            <a:endParaRPr lang="en-US" sz="2565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81" y="580551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60181" y="8720621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16154510" y="580551"/>
            <a:ext cx="0" cy="911949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6634865" y="8782534"/>
            <a:ext cx="777383" cy="917512"/>
          </a:xfrm>
          <a:custGeom>
            <a:avLst/>
            <a:gdLst/>
            <a:ahLst/>
            <a:cxnLst/>
            <a:rect l="l" t="t" r="r" b="b"/>
            <a:pathLst>
              <a:path w="777383" h="917512">
                <a:moveTo>
                  <a:pt x="0" y="0"/>
                </a:moveTo>
                <a:lnTo>
                  <a:pt x="777383" y="0"/>
                </a:lnTo>
                <a:lnTo>
                  <a:pt x="777383" y="917512"/>
                </a:lnTo>
                <a:lnTo>
                  <a:pt x="0" y="917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41978" y="1786874"/>
            <a:ext cx="15312532" cy="760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929" lvl="1" indent="-271964" algn="l">
              <a:lnSpc>
                <a:spcPts val="3527"/>
              </a:lnSpc>
              <a:buFont typeface="Arial"/>
              <a:buChar char="•"/>
            </a:pPr>
            <a:r>
              <a:rPr lang="en-US" sz="2519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MULTI‑DOC UPLOAD</a:t>
            </a:r>
            <a:r>
              <a:rPr lang="en-US" sz="2519" u="sng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</a:t>
            </a:r>
            <a:r>
              <a:rPr lang="en-US" sz="2519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SUPPORT FOR NUMEROUS FILE TYPES; BATCH-UPLOAD ALL RELEVANT POLICIES AT ONCE.</a:t>
            </a:r>
          </a:p>
          <a:p>
            <a:pPr marL="543929" lvl="1" indent="-271964" algn="l">
              <a:lnSpc>
                <a:spcPts val="3527"/>
              </a:lnSpc>
              <a:buFont typeface="Arial"/>
              <a:buChar char="•"/>
            </a:pPr>
            <a:r>
              <a:rPr lang="en-US" sz="2519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Conflict Detection Engine</a:t>
            </a:r>
            <a:r>
              <a:rPr lang="en-US" sz="2519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Highlights contradictory clauses or ambiguous terms across docs. (E.g. finds that one policy says “within 3 days” while another says “within 5 days.”)</a:t>
            </a:r>
          </a:p>
          <a:p>
            <a:pPr marL="543929" lvl="1" indent="-271964" algn="l">
              <a:lnSpc>
                <a:spcPts val="3527"/>
              </a:lnSpc>
              <a:buFont typeface="Arial"/>
              <a:buChar char="•"/>
            </a:pPr>
            <a:r>
              <a:rPr lang="en-US" sz="2519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Automated Reporting</a:t>
            </a:r>
            <a:r>
              <a:rPr lang="en-US" sz="2519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Generates a concise Conflict Report , summarizing each issue with source context. (Preview mock-up of report page or table.)</a:t>
            </a:r>
          </a:p>
          <a:p>
            <a:pPr marL="543929" lvl="1" indent="-271964" algn="l">
              <a:lnSpc>
                <a:spcPts val="3527"/>
              </a:lnSpc>
              <a:buFont typeface="Arial"/>
              <a:buChar char="•"/>
            </a:pPr>
            <a:r>
              <a:rPr lang="en-US" sz="2519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Billing (FlexPrice)</a:t>
            </a:r>
            <a:r>
              <a:rPr lang="en-US" sz="2519" u="sng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</a:t>
            </a:r>
            <a:r>
              <a:rPr lang="en-US" sz="2519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Usage-meter measures documents/pages processed; pay-as-you-go pricing incentivizes efficient use. ~15% of modern SaaS use usage-based billing (and 46% a hybrid model).</a:t>
            </a:r>
          </a:p>
          <a:p>
            <a:pPr marL="543929" lvl="1" indent="-271964" algn="l">
              <a:lnSpc>
                <a:spcPts val="3527"/>
              </a:lnSpc>
              <a:buFont typeface="Arial"/>
              <a:buChar char="•"/>
            </a:pPr>
            <a:r>
              <a:rPr lang="en-US" sz="2519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Live Update Monitoring (Pathway)</a:t>
            </a:r>
            <a:r>
              <a:rPr lang="en-US" sz="2519" u="sng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</a:t>
            </a:r>
            <a:r>
              <a:rPr lang="en-US" sz="2519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Continuously re-scan policies when documents change or regulations update, sending alerts on new conflicts (like an AI compliance watchdog).</a:t>
            </a:r>
          </a:p>
          <a:p>
            <a:pPr marL="543929" lvl="1" indent="-271964" algn="l">
              <a:lnSpc>
                <a:spcPts val="3527"/>
              </a:lnSpc>
              <a:spcBef>
                <a:spcPct val="0"/>
              </a:spcBef>
              <a:buFont typeface="Arial"/>
              <a:buChar char="•"/>
            </a:pPr>
            <a:r>
              <a:rPr lang="en-US" sz="2519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Visual</a:t>
            </a:r>
            <a:r>
              <a:rPr lang="en-US" sz="2519" u="sng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</a:t>
            </a:r>
            <a:r>
              <a:rPr lang="en-US" sz="2519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Icons or small screenshots: e.g. a multi‑upload page, an example conflict highlight (red-highlight text)</a:t>
            </a:r>
          </a:p>
          <a:p>
            <a:pPr algn="l">
              <a:lnSpc>
                <a:spcPts val="3527"/>
              </a:lnSpc>
              <a:spcBef>
                <a:spcPct val="0"/>
              </a:spcBef>
            </a:pPr>
            <a:endParaRPr lang="en-US" sz="2519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ctr">
              <a:lnSpc>
                <a:spcPts val="3527"/>
              </a:lnSpc>
              <a:spcBef>
                <a:spcPct val="0"/>
              </a:spcBef>
            </a:pPr>
            <a:endParaRPr lang="en-US" sz="2519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51262" y="8868509"/>
            <a:ext cx="870484" cy="521998"/>
            <a:chOff x="0" y="0"/>
            <a:chExt cx="6349746" cy="3807714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6403147" y="558092"/>
            <a:ext cx="1009101" cy="941216"/>
          </a:xfrm>
          <a:custGeom>
            <a:avLst/>
            <a:gdLst/>
            <a:ahLst/>
            <a:cxnLst/>
            <a:rect l="l" t="t" r="r" b="b"/>
            <a:pathLst>
              <a:path w="1009101" h="941216">
                <a:moveTo>
                  <a:pt x="0" y="0"/>
                </a:moveTo>
                <a:lnTo>
                  <a:pt x="1009101" y="0"/>
                </a:lnTo>
                <a:lnTo>
                  <a:pt x="1009101" y="941216"/>
                </a:lnTo>
                <a:lnTo>
                  <a:pt x="0" y="941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61028" y="471321"/>
            <a:ext cx="6630561" cy="106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5"/>
              </a:lnSpc>
            </a:pPr>
            <a:r>
              <a:rPr lang="en-US" sz="6253" b="1" spc="26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KEY FEATURES: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32085" y="8918268"/>
            <a:ext cx="3023830" cy="8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565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</a:t>
            </a:r>
          </a:p>
          <a:p>
            <a:pPr algn="ctr">
              <a:lnSpc>
                <a:spcPts val="3592"/>
              </a:lnSpc>
              <a:spcBef>
                <a:spcPct val="0"/>
              </a:spcBef>
            </a:pPr>
            <a:endParaRPr lang="en-US" sz="2565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81" y="580551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60181" y="8720621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67848" y="9039775"/>
            <a:ext cx="728825" cy="437050"/>
            <a:chOff x="0" y="0"/>
            <a:chExt cx="6349746" cy="3807714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id="10" name="Freeform 10"/>
          <p:cNvSpPr/>
          <p:nvPr/>
        </p:nvSpPr>
        <p:spPr>
          <a:xfrm rot="-155904">
            <a:off x="16645492" y="738060"/>
            <a:ext cx="820761" cy="619723"/>
          </a:xfrm>
          <a:custGeom>
            <a:avLst/>
            <a:gdLst/>
            <a:ahLst/>
            <a:cxnLst/>
            <a:rect l="l" t="t" r="r" b="b"/>
            <a:pathLst>
              <a:path w="820761" h="619723">
                <a:moveTo>
                  <a:pt x="0" y="0"/>
                </a:moveTo>
                <a:lnTo>
                  <a:pt x="820761" y="0"/>
                </a:lnTo>
                <a:lnTo>
                  <a:pt x="820761" y="619723"/>
                </a:lnTo>
                <a:lnTo>
                  <a:pt x="0" y="619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631866" y="8759820"/>
            <a:ext cx="709183" cy="717005"/>
          </a:xfrm>
          <a:custGeom>
            <a:avLst/>
            <a:gdLst/>
            <a:ahLst/>
            <a:cxnLst/>
            <a:rect l="l" t="t" r="r" b="b"/>
            <a:pathLst>
              <a:path w="709183" h="717005">
                <a:moveTo>
                  <a:pt x="0" y="0"/>
                </a:moveTo>
                <a:lnTo>
                  <a:pt x="709183" y="0"/>
                </a:lnTo>
                <a:lnTo>
                  <a:pt x="709183" y="717005"/>
                </a:lnTo>
                <a:lnTo>
                  <a:pt x="0" y="717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0595069" y="580551"/>
            <a:ext cx="0" cy="81400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648773" y="1723618"/>
            <a:ext cx="9533628" cy="642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853" lvl="1" indent="-264926" algn="ctr">
              <a:lnSpc>
                <a:spcPts val="3435"/>
              </a:lnSpc>
              <a:buFont typeface="Arial"/>
              <a:buChar char="•"/>
            </a:pPr>
            <a:r>
              <a:rPr lang="en-US" sz="2454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Regulatory Demand</a:t>
            </a:r>
            <a:r>
              <a:rPr lang="en-US" sz="245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Compliance software spend is booming. Organizations need scalable, auditable solutions. By 2026,</a:t>
            </a:r>
            <a:r>
              <a:rPr lang="en-US" sz="2454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70% of companies will vet AI vendor transparency,</a:t>
            </a:r>
            <a:r>
              <a:rPr lang="en-US" sz="245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so trustable AI tools (like ours) will be required</a:t>
            </a:r>
          </a:p>
          <a:p>
            <a:pPr algn="ctr">
              <a:lnSpc>
                <a:spcPts val="3435"/>
              </a:lnSpc>
            </a:pPr>
            <a:endParaRPr lang="en-US" sz="2454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29853" lvl="1" indent="-264926" algn="ctr">
              <a:lnSpc>
                <a:spcPts val="3435"/>
              </a:lnSpc>
              <a:buFont typeface="Arial"/>
              <a:buChar char="•"/>
            </a:pPr>
            <a:r>
              <a:rPr lang="en-US" sz="2454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Revenue Model</a:t>
            </a:r>
            <a:r>
              <a:rPr lang="en-US" sz="245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Usage pricing lets customers pay exactly for the scope of compliance (wide scan → higher fee; light scan → lower fee).</a:t>
            </a:r>
            <a:r>
              <a:rPr lang="en-US" sz="2454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Aligns with CIOs’ preference for agility and pay-per-use</a:t>
            </a:r>
            <a:r>
              <a:rPr lang="en-US" sz="245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.</a:t>
            </a:r>
          </a:p>
          <a:p>
            <a:pPr algn="ctr">
              <a:lnSpc>
                <a:spcPts val="3435"/>
              </a:lnSpc>
            </a:pPr>
            <a:endParaRPr lang="en-US" sz="2454">
              <a:solidFill>
                <a:srgbClr val="000000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marL="529853" lvl="1" indent="-264926" algn="ctr">
              <a:lnSpc>
                <a:spcPts val="3435"/>
              </a:lnSpc>
              <a:buFont typeface="Arial"/>
              <a:buChar char="•"/>
            </a:pPr>
            <a:r>
              <a:rPr lang="en-US" sz="2454" b="1" u="sng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Expandability</a:t>
            </a:r>
            <a:r>
              <a:rPr lang="en-US" sz="2454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: Can serve finance, healthcare, government, etc. Compliance solutions often achieve high customer retention (see churn stats in SaaS industry).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7848" y="697718"/>
            <a:ext cx="8602249" cy="744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3"/>
              </a:lnSpc>
            </a:pPr>
            <a:r>
              <a:rPr lang="en-US" sz="4309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BILLING IN SMART DOC CHECKER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95069" y="1926573"/>
            <a:ext cx="7132750" cy="480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605" lvl="1" indent="-267303" algn="ctr">
              <a:lnSpc>
                <a:spcPts val="3466"/>
              </a:lnSpc>
              <a:buFont typeface="Arial"/>
              <a:buChar char="•"/>
            </a:pPr>
            <a:r>
              <a:rPr lang="en-US" sz="2476" b="1" u="sng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Usage Metrics</a:t>
            </a:r>
            <a:r>
              <a:rPr lang="en-US" sz="2476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Large numbers or charts (in Fluent accent color) indicating “Docs Checked: N” and “Credits Spent: M”.</a:t>
            </a:r>
          </a:p>
          <a:p>
            <a:pPr algn="ctr">
              <a:lnSpc>
                <a:spcPts val="3466"/>
              </a:lnSpc>
            </a:pPr>
            <a:endParaRPr lang="en-US" sz="2476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534605" lvl="1" indent="-267303" algn="ctr">
              <a:lnSpc>
                <a:spcPts val="3466"/>
              </a:lnSpc>
              <a:buFont typeface="Arial"/>
              <a:buChar char="•"/>
            </a:pPr>
            <a:r>
              <a:rPr lang="en-US" sz="2476" b="1" u="sng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Pricing Info:</a:t>
            </a:r>
            <a:r>
              <a:rPr lang="en-US" sz="2476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Text like </a:t>
            </a:r>
            <a:r>
              <a:rPr lang="en-US" sz="2476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“1 document = 1 credit”</a:t>
            </a:r>
            <a:r>
              <a:rPr lang="en-US" sz="2476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below counters, using small caption font.</a:t>
            </a:r>
          </a:p>
          <a:p>
            <a:pPr algn="ctr">
              <a:lnSpc>
                <a:spcPts val="3466"/>
              </a:lnSpc>
            </a:pPr>
            <a:endParaRPr lang="en-US" sz="2476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534605" lvl="1" indent="-267303" algn="ctr">
              <a:lnSpc>
                <a:spcPts val="3466"/>
              </a:lnSpc>
              <a:buFont typeface="Arial"/>
              <a:buChar char="•"/>
            </a:pPr>
            <a:r>
              <a:rPr lang="en-US" sz="2476" b="1" u="sng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Visual Elements:</a:t>
            </a:r>
            <a:r>
              <a:rPr lang="en-US" sz="2476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Optionally a small bar or pie chart reflecting usage quotas, styled in Fluent colors.</a:t>
            </a:r>
          </a:p>
          <a:p>
            <a:pPr algn="ctr">
              <a:lnSpc>
                <a:spcPts val="3466"/>
              </a:lnSpc>
              <a:spcBef>
                <a:spcPct val="0"/>
              </a:spcBef>
            </a:pPr>
            <a:endParaRPr lang="en-US" sz="2476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32085" y="8982559"/>
            <a:ext cx="3023830" cy="8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565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</a:t>
            </a:r>
          </a:p>
          <a:p>
            <a:pPr algn="ctr">
              <a:lnSpc>
                <a:spcPts val="3592"/>
              </a:lnSpc>
              <a:spcBef>
                <a:spcPct val="0"/>
              </a:spcBef>
            </a:pPr>
            <a:endParaRPr lang="en-US" sz="2565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744201" y="644281"/>
            <a:ext cx="4675703" cy="747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  <a:spcBef>
                <a:spcPct val="0"/>
              </a:spcBef>
            </a:pPr>
            <a:r>
              <a:rPr lang="en-US" sz="4410" b="1" dirty="0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IN OUR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81" y="580551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60181" y="8587271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77191" y="8830159"/>
            <a:ext cx="818626" cy="490900"/>
            <a:chOff x="0" y="0"/>
            <a:chExt cx="6349746" cy="3807714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3838309" y="1772991"/>
            <a:ext cx="10906206" cy="5550542"/>
          </a:xfrm>
          <a:custGeom>
            <a:avLst/>
            <a:gdLst/>
            <a:ahLst/>
            <a:cxnLst/>
            <a:rect l="l" t="t" r="r" b="b"/>
            <a:pathLst>
              <a:path w="10906206" h="5550542">
                <a:moveTo>
                  <a:pt x="0" y="0"/>
                </a:moveTo>
                <a:lnTo>
                  <a:pt x="10906205" y="0"/>
                </a:lnTo>
                <a:lnTo>
                  <a:pt x="10906205" y="5550542"/>
                </a:lnTo>
                <a:lnTo>
                  <a:pt x="0" y="5550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56" b="-184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24767" y="665479"/>
            <a:ext cx="12131064" cy="79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3"/>
              </a:lnSpc>
            </a:pPr>
            <a:r>
              <a:rPr lang="en-US" sz="4630" b="1" spc="194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 UI SLIDE MOCKUP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3463" y="7504508"/>
            <a:ext cx="16341315" cy="83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2385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Upload Documents → AI Analysis → Conflict Detection → Report Generated → Billing &amp; Usage → Pathway Updates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79496" y="9018459"/>
            <a:ext cx="3023830" cy="8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565" b="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SMART DOC CHECKER</a:t>
            </a:r>
          </a:p>
          <a:p>
            <a:pPr algn="ctr">
              <a:lnSpc>
                <a:spcPts val="3592"/>
              </a:lnSpc>
              <a:spcBef>
                <a:spcPct val="0"/>
              </a:spcBef>
            </a:pPr>
            <a:endParaRPr lang="en-US" sz="2565" b="1">
              <a:solidFill>
                <a:srgbClr val="000000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81" y="580551"/>
            <a:ext cx="17167638" cy="9125897"/>
            <a:chOff x="0" y="0"/>
            <a:chExt cx="4521518" cy="240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518" cy="2403528"/>
            </a:xfrm>
            <a:custGeom>
              <a:avLst/>
              <a:gdLst/>
              <a:ahLst/>
              <a:cxnLst/>
              <a:rect l="l" t="t" r="r" b="b"/>
              <a:pathLst>
                <a:path w="4521518" h="240352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5842655" y="7859210"/>
            <a:ext cx="1578392" cy="1578392"/>
          </a:xfrm>
          <a:custGeom>
            <a:avLst/>
            <a:gdLst/>
            <a:ahLst/>
            <a:cxnLst/>
            <a:rect l="l" t="t" r="r" b="b"/>
            <a:pathLst>
              <a:path w="1578392" h="1578392">
                <a:moveTo>
                  <a:pt x="0" y="0"/>
                </a:moveTo>
                <a:lnTo>
                  <a:pt x="1578391" y="0"/>
                </a:lnTo>
                <a:lnTo>
                  <a:pt x="1578391" y="1578391"/>
                </a:lnTo>
                <a:lnTo>
                  <a:pt x="0" y="15783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04522" y="4308387"/>
            <a:ext cx="13078956" cy="226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83"/>
              </a:lnSpc>
            </a:pPr>
            <a:r>
              <a:rPr lang="en-US" sz="18716" spc="786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7191" y="8830159"/>
            <a:ext cx="818626" cy="490900"/>
            <a:chOff x="0" y="0"/>
            <a:chExt cx="6349746" cy="3807714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6337046" cy="3795014"/>
            </a:xfrm>
            <a:custGeom>
              <a:avLst/>
              <a:gdLst/>
              <a:ahLst/>
              <a:cxnLst/>
              <a:rect l="l" t="t" r="r" b="b"/>
              <a:pathLst>
                <a:path w="6337046" h="3795014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49746" cy="3807714"/>
            </a:xfrm>
            <a:custGeom>
              <a:avLst/>
              <a:gdLst/>
              <a:ahLst/>
              <a:cxnLst/>
              <a:rect l="l" t="t" r="r" b="b"/>
              <a:pathLst>
                <a:path w="6349746" h="3807714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Custom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Anonymous Pro</vt:lpstr>
      <vt:lpstr>Arian Bold</vt:lpstr>
      <vt:lpstr>Anonymous Pro Bold</vt:lpstr>
      <vt:lpstr>TT Commons Pro</vt:lpstr>
      <vt:lpstr>Calibri</vt:lpstr>
      <vt:lpstr>Arial</vt:lpstr>
      <vt:lpstr>TT Commons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DOC CHECKER</dc:title>
  <cp:lastModifiedBy>Pranathi V</cp:lastModifiedBy>
  <cp:revision>2</cp:revision>
  <dcterms:created xsi:type="dcterms:W3CDTF">2006-08-16T00:00:00Z</dcterms:created>
  <dcterms:modified xsi:type="dcterms:W3CDTF">2025-09-22T17:27:13Z</dcterms:modified>
  <dc:identifier>DAGziBeRCv0</dc:identifier>
</cp:coreProperties>
</file>